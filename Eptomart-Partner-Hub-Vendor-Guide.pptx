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Tomato (Rs./kg)</c:v>
                </c:pt>
              </c:strCache>
            </c:strRef>
          </c:tx>
          <c:spPr>
            <a:solidFill>
              <a:srgbClr val="16A34A"/>
            </a:solidFill>
            <a:ln w="38100" cap="flat">
              <a:solidFill>
                <a:srgbClr val="16A3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532D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6A34A"/>
              </a:solidFill>
              <a:ln w="9525" cap="flat">
                <a:solidFill>
                  <a:srgbClr val="16A3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10 Jul</c:v>
                  </c:pt>
                  <c:pt idx="1">
                    <c:v>11 Jul</c:v>
                  </c:pt>
                  <c:pt idx="2">
                    <c:v>12 Jul</c:v>
                  </c:pt>
                  <c:pt idx="3">
                    <c:v>13 Jul</c:v>
                  </c:pt>
                  <c:pt idx="4">
                    <c:v>14 Jul</c:v>
                  </c:pt>
                  <c:pt idx="5">
                    <c:v>15 Jul</c:v>
                  </c:pt>
                  <c:pt idx="6">
                    <c:v>16 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38</c:v>
                </c:pt>
                <c:pt idx="1">
                  <c:v>40</c:v>
                </c:pt>
                <c:pt idx="2">
                  <c:v>40</c:v>
                </c:pt>
                <c:pt idx="3">
                  <c:v>42</c:v>
                </c:pt>
                <c:pt idx="4">
                  <c:v>41</c:v>
                </c:pt>
                <c:pt idx="5">
                  <c:v>40</c:v>
                </c:pt>
                <c:pt idx="6">
                  <c:v>45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4532D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30"/>
        </c:scaling>
        <c:delete val="0"/>
        <c:axPos val="l"/>
        <c:majorGridlines>
          <c:spPr>
            <a:ln w="6350" cap="flat">
              <a:solidFill>
                <a:srgbClr val="EDF2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image" Target="../media/image-1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5486400" cy="5486400"/>
          </a:xfrm>
          <a:prstGeom prst="ellipse">
            <a:avLst/>
          </a:prstGeom>
          <a:solidFill>
            <a:srgbClr val="16A34A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3840480"/>
            <a:ext cx="5486400" cy="5486400"/>
          </a:xfrm>
          <a:prstGeom prst="ellipse">
            <a:avLst/>
          </a:prstGeom>
          <a:solidFill>
            <a:srgbClr val="EA580C">
              <a:alpha val="12000"/>
            </a:srgbClr>
          </a:solidFill>
          <a:ln/>
        </p:spPr>
      </p:sp>
      <p:pic>
        <p:nvPicPr>
          <p:cNvPr id="4" name="Image 0" descr="/sessions/charming-upbeat-cerf/mnt/vpbms/frontend/public/eptomart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2916" y="777240"/>
            <a:ext cx="2103120" cy="20025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971800"/>
            <a:ext cx="10360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Eptomart Partner Hub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828800" y="3886200"/>
            <a:ext cx="8531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Guide — send your daily price list on WhatsApp in minutes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991356" y="4709160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8" name="Text 5"/>
          <p:cNvSpPr/>
          <p:nvPr/>
        </p:nvSpPr>
        <p:spPr>
          <a:xfrm>
            <a:off x="3991356" y="47091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eptoprices.today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617220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Eptosi Smart Solutions  ·  An Eptosi Group Company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you do with Partner Hub?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 for your entire daily price broadcast — built for your business.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once. Reach every customer.
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morning, set your prices and send a neat price list to all your customers and WhatsApp groups — as a message or a branded PDF.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pPr indent="0" marL="0">
              <a:buNone/>
            </a:pPr>
            <a:endParaRPr lang="en-US" sz="54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all your daily routine takes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4526280" y="169164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F0FDF4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00600" y="1965960"/>
            <a:ext cx="658368" cy="658368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8359" y="2143719"/>
            <a:ext cx="302849" cy="30284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00600" y="2743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Daily Prices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800600" y="31089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today's rates for all products in one screen and save with one tap.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366760" y="169164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F0FDF4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41080" y="1965960"/>
            <a:ext cx="658368" cy="658368"/>
          </a:xfrm>
          <a:prstGeom prst="ellipse">
            <a:avLst/>
          </a:prstGeom>
          <a:solidFill>
            <a:srgbClr val="25D36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8839" y="2143719"/>
            <a:ext cx="302849" cy="30284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641080" y="2743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on WhatsApp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641080" y="31089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every customer and group — guided, one tap per contact.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26280" y="429768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F0FDF4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00600" y="4572000"/>
            <a:ext cx="658368" cy="658368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359" y="4749759"/>
            <a:ext cx="302849" cy="30284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00600" y="5349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Customers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800600" y="57150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buyers organised — hotels, shops, wholesalers and more.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366760" y="429768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F0FDF4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641080" y="4572000"/>
            <a:ext cx="658368" cy="65836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8839" y="4749759"/>
            <a:ext cx="302849" cy="30284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641080" y="5349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with Graphs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8641080" y="57150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price trends for every product and a log of every message sent.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Eptomart Partner Hub  ·  Vendor Guide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it like an app, log in, and set your own password.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502" y="2093062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11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on your phone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2834640"/>
            <a:ext cx="384048" cy="384048"/>
          </a:xfrm>
          <a:prstGeom prst="ellipse">
            <a:avLst/>
          </a:prstGeom>
          <a:solidFill>
            <a:srgbClr val="14532D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63040" y="2779776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Chrome and go to  eptoprices.today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914400" y="3611880"/>
            <a:ext cx="384048" cy="384048"/>
          </a:xfrm>
          <a:prstGeom prst="ellipse">
            <a:avLst/>
          </a:prstGeom>
          <a:solidFill>
            <a:srgbClr val="14532D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63040" y="3557016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browser menu (⋮ on Android / Share on iPhone)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914400" y="4389120"/>
            <a:ext cx="384048" cy="384048"/>
          </a:xfrm>
          <a:prstGeom prst="ellipse">
            <a:avLst/>
          </a:prstGeom>
          <a:solidFill>
            <a:srgbClr val="14532D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463040" y="4334256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"Add to Home Screen" and confirm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914400" y="5166360"/>
            <a:ext cx="384048" cy="384048"/>
          </a:xfrm>
          <a:prstGeom prst="ellipse">
            <a:avLst/>
          </a:prstGeom>
          <a:solidFill>
            <a:srgbClr val="14532D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463040" y="5111496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Partner Hub icon appears — opens full screen like a real app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914400" y="5806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stay logged in until you log out yourself — no daily login.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355080" y="1645920"/>
            <a:ext cx="5285232" cy="4572000"/>
          </a:xfrm>
          <a:prstGeom prst="roundRect">
            <a:avLst>
              <a:gd name="adj" fmla="val 1800"/>
            </a:avLst>
          </a:prstGeom>
          <a:solidFill>
            <a:srgbClr val="F0FDF4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675120" y="1920240"/>
            <a:ext cx="640080" cy="640080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942" y="2093062"/>
            <a:ext cx="294437" cy="294437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498080" y="2011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login — example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6675120" y="2788920"/>
            <a:ext cx="461772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6949440" y="301752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:  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freshmart
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:  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Temp@123 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(temporary — from Eptomart admin)</a:t>
            </a:r>
            <a:endParaRPr lang="en-US" sz="14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4599432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132320" y="453542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eye icon to see the password while typing</a:t>
            </a:r>
            <a:endParaRPr lang="en-US" sz="125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5148072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132320" y="508406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login, tap the key icon (top bar) to set your own password</a:t>
            </a:r>
            <a:endParaRPr lang="en-US" sz="125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5696712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132320" y="563270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it later? Tap "Forgot password?" — admin will help you reset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Eptomart Partner Hub  ·  Vendor Guide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Dashboard — Make It Yours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screen after login shows your day at a glance.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0350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12264"/>
            <a:ext cx="658368" cy="65836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719" y="2290023"/>
            <a:ext cx="302849" cy="302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476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at a glance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91640" y="231343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priced today, price updates, customers, messages sent and pending.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291840"/>
            <a:ext cx="60350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3621024"/>
            <a:ext cx="658368" cy="658368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19" y="3798783"/>
            <a:ext cx="302849" cy="3028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4564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logo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691640" y="382219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logo box next to your shop name — your logo then appears in the app header and on your PDF price list.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800600"/>
            <a:ext cx="60350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5129784"/>
            <a:ext cx="658368" cy="658368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19" y="5307543"/>
            <a:ext cx="302849" cy="3028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9651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691640" y="533095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header and footer of your price list — e.g. "Fresh Mart Daily Rates" and "Free delivery above Rs. 500".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949440" y="1783080"/>
            <a:ext cx="4709160" cy="4526280"/>
          </a:xfrm>
          <a:prstGeom prst="roundRect">
            <a:avLst>
              <a:gd name="adj" fmla="val 1818"/>
            </a:avLst>
          </a:prstGeom>
          <a:solidFill>
            <a:srgbClr val="0B1220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22376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223760" y="233172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16A34A"/>
          </a:solidFill>
          <a:ln/>
        </p:spPr>
      </p:sp>
      <p:sp>
        <p:nvSpPr>
          <p:cNvPr id="22" name="Text 17"/>
          <p:cNvSpPr/>
          <p:nvPr/>
        </p:nvSpPr>
        <p:spPr>
          <a:xfrm>
            <a:off x="7223760" y="2331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8229600" y="23317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morning
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Mart Vegetables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223760" y="3520440"/>
            <a:ext cx="2011680" cy="1097280"/>
          </a:xfrm>
          <a:prstGeom prst="roundRect">
            <a:avLst>
              <a:gd name="adj" fmla="val 7500"/>
            </a:avLst>
          </a:prstGeom>
          <a:solidFill>
            <a:srgbClr val="111B2E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7406640" y="36301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400" dirty="0"/>
          </a:p>
        </p:txBody>
      </p:sp>
      <p:sp>
        <p:nvSpPr>
          <p:cNvPr id="26" name="Text 21"/>
          <p:cNvSpPr/>
          <p:nvPr/>
        </p:nvSpPr>
        <p:spPr>
          <a:xfrm>
            <a:off x="7406640" y="41422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priced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9372600" y="3520440"/>
            <a:ext cx="2011680" cy="1097280"/>
          </a:xfrm>
          <a:prstGeom prst="roundRect">
            <a:avLst>
              <a:gd name="adj" fmla="val 7500"/>
            </a:avLst>
          </a:prstGeom>
          <a:solidFill>
            <a:srgbClr val="111B2E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9555480" y="36301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29" name="Text 24"/>
          <p:cNvSpPr/>
          <p:nvPr/>
        </p:nvSpPr>
        <p:spPr>
          <a:xfrm>
            <a:off x="9555480" y="41422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7223760" y="4754880"/>
            <a:ext cx="2011680" cy="1097280"/>
          </a:xfrm>
          <a:prstGeom prst="roundRect">
            <a:avLst>
              <a:gd name="adj" fmla="val 7500"/>
            </a:avLst>
          </a:prstGeom>
          <a:solidFill>
            <a:srgbClr val="111B2E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7406640" y="48646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32" name="Text 27"/>
          <p:cNvSpPr/>
          <p:nvPr/>
        </p:nvSpPr>
        <p:spPr>
          <a:xfrm>
            <a:off x="7406640" y="53766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sent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9372600" y="4754880"/>
            <a:ext cx="2011680" cy="1097280"/>
          </a:xfrm>
          <a:prstGeom prst="roundRect">
            <a:avLst>
              <a:gd name="adj" fmla="val 7500"/>
            </a:avLst>
          </a:prstGeom>
          <a:solidFill>
            <a:srgbClr val="111B2E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34" name="Text 29"/>
          <p:cNvSpPr/>
          <p:nvPr/>
        </p:nvSpPr>
        <p:spPr>
          <a:xfrm>
            <a:off x="9555480" y="48646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 dirty="0"/>
          </a:p>
        </p:txBody>
      </p:sp>
      <p:sp>
        <p:nvSpPr>
          <p:cNvPr id="35" name="Text 30"/>
          <p:cNvSpPr/>
          <p:nvPr/>
        </p:nvSpPr>
        <p:spPr>
          <a:xfrm>
            <a:off x="9555480" y="53766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Eptomart Partner Hub  ·  Vendor Guide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Prices — Your Morning Job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"Products &amp; Prices", type new rates, tap Update Prices. Done.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94360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0195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today Tomato went up by Rs.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828800" cy="41148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286000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651760" y="2286000"/>
            <a:ext cx="1325880" cy="41148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9" name="Text 7"/>
          <p:cNvSpPr/>
          <p:nvPr/>
        </p:nvSpPr>
        <p:spPr>
          <a:xfrm>
            <a:off x="2724912" y="2286000"/>
            <a:ext cx="1179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(Rs.)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977640" y="2286000"/>
            <a:ext cx="1325880" cy="41148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11" name="Text 9"/>
          <p:cNvSpPr/>
          <p:nvPr/>
        </p:nvSpPr>
        <p:spPr>
          <a:xfrm>
            <a:off x="4050792" y="2286000"/>
            <a:ext cx="1179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Price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03520" y="2286000"/>
            <a:ext cx="914400" cy="41148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13" name="Text 11"/>
          <p:cNvSpPr/>
          <p:nvPr/>
        </p:nvSpPr>
        <p:spPr>
          <a:xfrm>
            <a:off x="5376672" y="2286000"/>
            <a:ext cx="768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2697480"/>
            <a:ext cx="1828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69748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 தக்காளி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651760" y="2697480"/>
            <a:ext cx="1325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24912" y="2697480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977640" y="2697480"/>
            <a:ext cx="1325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50792" y="2697480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 (+5)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303520" y="2697480"/>
            <a:ext cx="914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76672" y="2697480"/>
            <a:ext cx="768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stock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" y="3200400"/>
            <a:ext cx="18288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320040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 வெங்காயம்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651760" y="3200400"/>
            <a:ext cx="13258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24912" y="3200400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977640" y="3200400"/>
            <a:ext cx="13258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50792" y="3200400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303520" y="3200400"/>
            <a:ext cx="9144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76672" y="3200400"/>
            <a:ext cx="768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stock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22960" y="3703320"/>
            <a:ext cx="1828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" y="370332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Potato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651760" y="3703320"/>
            <a:ext cx="1325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24912" y="3703320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977640" y="3703320"/>
            <a:ext cx="1325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50792" y="3703320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 (–3)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303520" y="3703320"/>
            <a:ext cx="914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76672" y="3703320"/>
            <a:ext cx="768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stock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22960" y="4206240"/>
            <a:ext cx="18288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6112" y="420624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Carrot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2651760" y="4206240"/>
            <a:ext cx="13258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24912" y="4206240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3977640" y="4206240"/>
            <a:ext cx="13258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50792" y="4206240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303520" y="4206240"/>
            <a:ext cx="9144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76672" y="4206240"/>
            <a:ext cx="768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stock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22960" y="489204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16A34A"/>
          </a:solidFill>
          <a:ln/>
        </p:spPr>
      </p:sp>
      <p:sp>
        <p:nvSpPr>
          <p:cNvPr id="47" name="Text 45"/>
          <p:cNvSpPr/>
          <p:nvPr/>
        </p:nvSpPr>
        <p:spPr>
          <a:xfrm>
            <a:off x="822960" y="4892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Prices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3337560" y="4983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one tap saves everything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812280" y="1737360"/>
            <a:ext cx="48463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086600" y="2029968"/>
            <a:ext cx="603504" cy="603504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5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9546" y="2192914"/>
            <a:ext cx="277612" cy="277612"/>
          </a:xfrm>
          <a:prstGeom prst="rect">
            <a:avLst/>
          </a:prstGeom>
        </p:spPr>
      </p:pic>
      <p:sp>
        <p:nvSpPr>
          <p:cNvPr id="52" name="Text 49"/>
          <p:cNvSpPr/>
          <p:nvPr/>
        </p:nvSpPr>
        <p:spPr>
          <a:xfrm>
            <a:off x="7863840" y="18653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own products</a:t>
            </a:r>
            <a:endParaRPr lang="en-US" sz="1450" dirty="0"/>
          </a:p>
        </p:txBody>
      </p:sp>
      <p:sp>
        <p:nvSpPr>
          <p:cNvPr id="53" name="Text 50"/>
          <p:cNvSpPr/>
          <p:nvPr/>
        </p:nvSpPr>
        <p:spPr>
          <a:xfrm>
            <a:off x="7863840" y="2231136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"Add Product" — e.g. Cauliflower, unit kg, starting price Rs. 30. It joins your sheet immediately.</a:t>
            </a:r>
            <a:endParaRPr lang="en-US" sz="1150" dirty="0"/>
          </a:p>
        </p:txBody>
      </p:sp>
      <p:sp>
        <p:nvSpPr>
          <p:cNvPr id="54" name="Shape 51"/>
          <p:cNvSpPr/>
          <p:nvPr/>
        </p:nvSpPr>
        <p:spPr>
          <a:xfrm>
            <a:off x="6812280" y="3154680"/>
            <a:ext cx="4846320" cy="123444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7086600" y="3447288"/>
            <a:ext cx="603504" cy="603504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5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9546" y="3610234"/>
            <a:ext cx="277612" cy="277612"/>
          </a:xfrm>
          <a:prstGeom prst="rect">
            <a:avLst/>
          </a:prstGeom>
        </p:spPr>
      </p:pic>
      <p:sp>
        <p:nvSpPr>
          <p:cNvPr id="57" name="Text 53"/>
          <p:cNvSpPr/>
          <p:nvPr/>
        </p:nvSpPr>
        <p:spPr>
          <a:xfrm>
            <a:off x="7863840" y="32826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must be unique</a:t>
            </a:r>
            <a:endParaRPr lang="en-US" sz="1450" dirty="0"/>
          </a:p>
        </p:txBody>
      </p:sp>
      <p:sp>
        <p:nvSpPr>
          <p:cNvPr id="58" name="Text 54"/>
          <p:cNvSpPr/>
          <p:nvPr/>
        </p:nvSpPr>
        <p:spPr>
          <a:xfrm>
            <a:off x="7863840" y="3648456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will not allow two products with the same name — no duplicate confusion.</a:t>
            </a:r>
            <a:endParaRPr lang="en-US" sz="1150" dirty="0"/>
          </a:p>
        </p:txBody>
      </p:sp>
      <p:sp>
        <p:nvSpPr>
          <p:cNvPr id="59" name="Shape 55"/>
          <p:cNvSpPr/>
          <p:nvPr/>
        </p:nvSpPr>
        <p:spPr>
          <a:xfrm>
            <a:off x="6812280" y="4572000"/>
            <a:ext cx="48463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60" name="Shape 56"/>
          <p:cNvSpPr/>
          <p:nvPr/>
        </p:nvSpPr>
        <p:spPr>
          <a:xfrm>
            <a:off x="7086600" y="4864608"/>
            <a:ext cx="603504" cy="60350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9546" y="5027554"/>
            <a:ext cx="277612" cy="277612"/>
          </a:xfrm>
          <a:prstGeom prst="rect">
            <a:avLst/>
          </a:prstGeom>
        </p:spPr>
      </p:pic>
      <p:sp>
        <p:nvSpPr>
          <p:cNvPr id="62" name="Text 57"/>
          <p:cNvSpPr/>
          <p:nvPr/>
        </p:nvSpPr>
        <p:spPr>
          <a:xfrm>
            <a:off x="7863840" y="47000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anytime</a:t>
            </a:r>
            <a:endParaRPr lang="en-US" sz="1450" dirty="0"/>
          </a:p>
        </p:txBody>
      </p:sp>
      <p:sp>
        <p:nvSpPr>
          <p:cNvPr id="63" name="Text 58"/>
          <p:cNvSpPr/>
          <p:nvPr/>
        </p:nvSpPr>
        <p:spPr>
          <a:xfrm>
            <a:off x="7863840" y="5065776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your full price history as Excel or PDF from the same screen.</a:t>
            </a:r>
            <a:endParaRPr lang="en-US" sz="1150" dirty="0"/>
          </a:p>
        </p:txBody>
      </p:sp>
      <p:sp>
        <p:nvSpPr>
          <p:cNvPr id="64" name="Text 59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Eptomart Partner Hub  ·  Vendor Guide</a:t>
            </a:r>
            <a:endParaRPr lang="en-US" sz="900" dirty="0"/>
          </a:p>
        </p:txBody>
      </p:sp>
      <p:sp>
        <p:nvSpPr>
          <p:cNvPr id="65" name="Text 6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Stock? One Tap.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always know what is not available — automatically.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658368" cy="658368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439" y="2189439"/>
            <a:ext cx="302849" cy="302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214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Stock toggle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288036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8803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stock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697480" y="2926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⇄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0" y="288036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0" y="28803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stock</a:t>
            </a:r>
            <a:endParaRPr lang="en-US" sz="13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7588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362102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Carrot finished? Tap its stock badge — it turns to "No stock".</a:t>
            </a:r>
            <a:endParaRPr lang="en-US" sz="12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24281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41879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removed from the price table of your broadcast.</a:t>
            </a:r>
            <a:endParaRPr lang="en-US" sz="12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80974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7548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appears under "Not Available Today" so customers do not keep asking.</a:t>
            </a:r>
            <a:endParaRPr lang="en-US" sz="12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376672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25880" y="532180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in stock tomorrow? Tap again — it rejoins the price list.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6263640" y="1737360"/>
            <a:ext cx="5376672" cy="4206240"/>
          </a:xfrm>
          <a:prstGeom prst="roundRect">
            <a:avLst>
              <a:gd name="adj" fmla="val 1957"/>
            </a:avLst>
          </a:prstGeom>
          <a:solidFill>
            <a:srgbClr val="E7FBE9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22" name="Text 15"/>
          <p:cNvSpPr/>
          <p:nvPr/>
        </p:nvSpPr>
        <p:spPr>
          <a:xfrm>
            <a:off x="658368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CUSTOMERS SEE IT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6583680" y="2286000"/>
            <a:ext cx="470916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6858000" y="246888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Fresh Mart Daily Rates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 : 16/07/2026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Tomato - Rs.45/kg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Onion - Rs.50/kg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Potato - Rs.75/kg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Beans - Rs.54/kg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Available Today: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Carrot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you.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Eptomart Partner Hub  ·  Vendor Guide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Customers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list once — broadcast to them every day.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30936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93976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2266798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293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customer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91640" y="2295144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WhatsApp number is enough. Example: "Hotel Saravana — 98421 12345", group: Hotels.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246120"/>
            <a:ext cx="630936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3557016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782" y="3729838"/>
            <a:ext cx="294437" cy="2944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3924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by group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691640" y="3758184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Hotels, Retail Shops, Wholesalers, Restaurants, Street Vendors, Supermarkets.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709160"/>
            <a:ext cx="630936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5020056"/>
            <a:ext cx="640080" cy="640080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2" y="5192878"/>
            <a:ext cx="294437" cy="2944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8554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who gets today's list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691640" y="5221224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sending, contacts start unticked — use "Select All", or tick only the buyers you want.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223760" y="1783080"/>
            <a:ext cx="4434840" cy="4343400"/>
          </a:xfrm>
          <a:prstGeom prst="roundRect">
            <a:avLst>
              <a:gd name="adj" fmla="val 1895"/>
            </a:avLst>
          </a:prstGeom>
          <a:solidFill>
            <a:srgbClr val="0B1220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543800" y="2103120"/>
            <a:ext cx="685800" cy="6858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8966" y="2288286"/>
            <a:ext cx="315468" cy="3154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58200" y="22128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 your list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7543800" y="3063240"/>
            <a:ext cx="3794760" cy="137160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7818120" y="32918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EPTOMART
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+91 95145 19518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7543800" y="4617720"/>
            <a:ext cx="3794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vendor gets the official Eptomart contact automatically. Keep it selected so Eptomart also receives your daily price list — and use it whenever you need help.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Eptomart Partner Hub  ·  Vendor Guide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Your Price List — 3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"Send Price List" page walks you through it, left to right.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0" cy="4297680"/>
          </a:xfrm>
          <a:prstGeom prst="roundRect">
            <a:avLst>
              <a:gd name="adj" fmla="val 2250"/>
            </a:avLst>
          </a:prstGeom>
          <a:solidFill>
            <a:srgbClr val="F0FDF4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20848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in-stock priced items come pre-ticked.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untick Beans today if you don't want to quote it. Out-of-stock items are added as "Not Available" automatically.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5257800"/>
            <a:ext cx="3108960" cy="502920"/>
          </a:xfrm>
          <a:prstGeom prst="roundRect">
            <a:avLst>
              <a:gd name="adj" fmla="val 49091"/>
            </a:avLst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5257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Price List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24528" y="35661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462272" y="1737360"/>
            <a:ext cx="3657600" cy="4297680"/>
          </a:xfrm>
          <a:prstGeom prst="roundRect">
            <a:avLst>
              <a:gd name="adj" fmla="val 2250"/>
            </a:avLst>
          </a:prstGeom>
          <a:solidFill>
            <a:srgbClr val="F0FDF4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36592" y="201168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736592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22392" y="20848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736592" y="2788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message is generated instantly with header, date, prices and footer.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36592" y="37490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still edit the text by hand before sending — add a festival offer, a delivery note, anything.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36592" y="5257800"/>
            <a:ext cx="3108960" cy="502920"/>
          </a:xfrm>
          <a:prstGeom prst="roundRect">
            <a:avLst>
              <a:gd name="adj" fmla="val 49091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4736592" y="5257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 /  Print  /  PDF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38160" y="35661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375904" y="1737360"/>
            <a:ext cx="3657600" cy="4297680"/>
          </a:xfrm>
          <a:prstGeom prst="roundRect">
            <a:avLst>
              <a:gd name="adj" fmla="val 2250"/>
            </a:avLst>
          </a:prstGeom>
          <a:solidFill>
            <a:srgbClr val="FFF7ED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650224" y="2011680"/>
            <a:ext cx="548640" cy="5486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4" name="Text 22"/>
          <p:cNvSpPr/>
          <p:nvPr/>
        </p:nvSpPr>
        <p:spPr>
          <a:xfrm>
            <a:off x="8650224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336024" y="20848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Recipients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8650224" y="2788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customers (or "Select All") and add WhatsApp group names.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650224" y="37490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select 12 shops + group "Daily Buyers", then tap Start Broadcast (13).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650224" y="5257800"/>
            <a:ext cx="3108960" cy="502920"/>
          </a:xfrm>
          <a:prstGeom prst="roundRect">
            <a:avLst>
              <a:gd name="adj" fmla="val 49091"/>
            </a:avLst>
          </a:prstGeom>
          <a:solidFill>
            <a:srgbClr val="EA580C"/>
          </a:solidFill>
          <a:ln/>
        </p:spPr>
      </p:sp>
      <p:sp>
        <p:nvSpPr>
          <p:cNvPr id="29" name="Text 27"/>
          <p:cNvSpPr/>
          <p:nvPr/>
        </p:nvSpPr>
        <p:spPr>
          <a:xfrm>
            <a:off x="8650224" y="5257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Broadcast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Eptomart Partner Hub  ·  Vendor Guide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 on WhatsApp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sending — the app queues everyone and moves you through, one tap each.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852160" cy="4297680"/>
          </a:xfrm>
          <a:prstGeom prst="roundRect">
            <a:avLst>
              <a:gd name="adj" fmla="val 1915"/>
            </a:avLst>
          </a:prstGeom>
          <a:solidFill>
            <a:srgbClr val="F0FDF4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3 of 13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023360" y="1965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sent · 0 skipped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8680" y="2377440"/>
            <a:ext cx="5212080" cy="20116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377440"/>
            <a:ext cx="1234440" cy="20116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788920"/>
            <a:ext cx="52120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2971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Saravana
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+91 98421 12345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977640" y="3044952"/>
            <a:ext cx="1874520" cy="530352"/>
          </a:xfrm>
          <a:prstGeom prst="roundRect">
            <a:avLst>
              <a:gd name="adj" fmla="val 50000"/>
            </a:avLst>
          </a:prstGeom>
          <a:solidFill>
            <a:srgbClr val="25D366"/>
          </a:solidFill>
          <a:ln/>
        </p:spPr>
      </p:sp>
      <p:sp>
        <p:nvSpPr>
          <p:cNvPr id="12" name="Text 10"/>
          <p:cNvSpPr/>
          <p:nvPr/>
        </p:nvSpPr>
        <p:spPr>
          <a:xfrm>
            <a:off x="3977640" y="304495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WhatsApp →</a:t>
            </a:r>
            <a:endParaRPr lang="en-US" sz="12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133088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80160" y="407822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opens with the message already typed — just press send.</a:t>
            </a:r>
            <a:endParaRPr lang="en-US" sz="12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700016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80160" y="464515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marks it "sent" and moves to the next customer.</a:t>
            </a:r>
            <a:endParaRPr lang="en-US" sz="12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26694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5212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groups: WhatsApp opens with the message ready — pick the group.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720840" y="1737360"/>
            <a:ext cx="493776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40880" y="2011680"/>
            <a:ext cx="658368" cy="658368"/>
          </a:xfrm>
          <a:prstGeom prst="ellipse">
            <a:avLst/>
          </a:prstGeom>
          <a:solidFill>
            <a:srgbClr val="25D36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8639" y="2189439"/>
            <a:ext cx="302849" cy="3028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909560" y="21214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WhatsApp apps?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040880" y="283464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phone has both WhatsApp and WhatsApp Business, the app asks which one to use — and can remember your choice.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7040880" y="3794760"/>
            <a:ext cx="4343400" cy="54864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3922776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726680" y="37947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7040880" y="4480560"/>
            <a:ext cx="4343400" cy="548640"/>
          </a:xfrm>
          <a:prstGeom prst="roundRect">
            <a:avLst>
              <a:gd name="adj" fmla="val 15000"/>
            </a:avLst>
          </a:prstGeom>
          <a:solidFill>
            <a:srgbClr val="E0F2F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4608576"/>
            <a:ext cx="292608" cy="29260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726680" y="4480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7040880" y="53035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Remember my choice — change it anytime from the dropdown on the send page.</a:t>
            </a:r>
            <a:endParaRPr lang="en-US" sz="1150" dirty="0"/>
          </a:p>
        </p:txBody>
      </p:sp>
      <p:sp>
        <p:nvSpPr>
          <p:cNvPr id="31" name="Text 2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Eptomart Partner Hub  ·  Vendor Guide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or PDF — Your Choice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toggle at the top of the send page. Your choice is remembered.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4297680"/>
          </a:xfrm>
          <a:prstGeom prst="roundRect">
            <a:avLst>
              <a:gd name="adj" fmla="val 1915"/>
            </a:avLst>
          </a:prstGeom>
          <a:solidFill>
            <a:srgbClr val="F0FDF4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658368" cy="658368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439" y="2189439"/>
            <a:ext cx="302849" cy="302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214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Message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9864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84378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WhatsApp text — loads instantly, works on any phone.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930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343814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can copy prices and reply easily.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087368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80160" y="403250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daily quick updates.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868680" y="4983480"/>
            <a:ext cx="2103120" cy="502920"/>
          </a:xfrm>
          <a:prstGeom prst="roundRect">
            <a:avLst>
              <a:gd name="adj" fmla="val 49091"/>
            </a:avLst>
          </a:prstGeom>
          <a:solidFill>
            <a:srgbClr val="16A34A"/>
          </a:solidFill>
          <a:ln/>
        </p:spPr>
      </p:sp>
      <p:sp>
        <p:nvSpPr>
          <p:cNvPr id="15" name="Text 9"/>
          <p:cNvSpPr/>
          <p:nvPr/>
        </p:nvSpPr>
        <p:spPr>
          <a:xfrm>
            <a:off x="868680" y="4983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263640" y="1737360"/>
            <a:ext cx="5394960" cy="4297680"/>
          </a:xfrm>
          <a:prstGeom prst="roundRect">
            <a:avLst>
              <a:gd name="adj" fmla="val 1915"/>
            </a:avLst>
          </a:prstGeom>
          <a:solidFill>
            <a:srgbClr val="FFF7ED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583680" y="2011680"/>
            <a:ext cx="658368" cy="658368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1439" y="2189439"/>
            <a:ext cx="302849" cy="30284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452360" y="21214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PDF</a:t>
            </a:r>
            <a:endParaRPr lang="en-US" sz="18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2898648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995160" y="284378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document with your logo and shop letterhead.</a:t>
            </a:r>
            <a:endParaRPr lang="en-US" sz="12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3493008"/>
            <a:ext cx="274320" cy="27432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995160" y="343814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number, date and time stamp on every copy.</a:t>
            </a:r>
            <a:endParaRPr lang="en-US" sz="12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4087368"/>
            <a:ext cx="274320" cy="27432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995160" y="403250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Neat price table + "Not Available" section — easy to print.</a:t>
            </a:r>
            <a:endParaRPr lang="en-US" sz="125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0" y="4681728"/>
            <a:ext cx="274320" cy="27432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995160" y="462686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through your phone's share sheet to any chat or group.</a:t>
            </a:r>
            <a:endParaRPr lang="en-US" sz="1250" dirty="0"/>
          </a:p>
        </p:txBody>
      </p:sp>
      <p:sp>
        <p:nvSpPr>
          <p:cNvPr id="28" name="Shape 17"/>
          <p:cNvSpPr/>
          <p:nvPr/>
        </p:nvSpPr>
        <p:spPr>
          <a:xfrm>
            <a:off x="6583680" y="5349240"/>
            <a:ext cx="2103120" cy="502920"/>
          </a:xfrm>
          <a:prstGeom prst="roundRect">
            <a:avLst>
              <a:gd name="adj" fmla="val 49091"/>
            </a:avLst>
          </a:prstGeom>
          <a:solidFill>
            <a:srgbClr val="EA580C"/>
          </a:solidFill>
          <a:ln/>
        </p:spPr>
      </p:sp>
      <p:sp>
        <p:nvSpPr>
          <p:cNvPr id="29" name="Text 18"/>
          <p:cNvSpPr/>
          <p:nvPr/>
        </p:nvSpPr>
        <p:spPr>
          <a:xfrm>
            <a:off x="6583680" y="5349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300" dirty="0"/>
          </a:p>
        </p:txBody>
      </p:sp>
      <p:sp>
        <p:nvSpPr>
          <p:cNvPr id="30" name="Text 19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Eptomart Partner Hub  ·  Vendor Guide</a:t>
            </a:r>
            <a:endParaRPr lang="en-US" sz="900" dirty="0"/>
          </a:p>
        </p:txBody>
      </p:sp>
      <p:sp>
        <p:nvSpPr>
          <p:cNvPr id="31" name="Text 2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&amp; Price Trends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price change and every message is recorded — nothing is lost.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03504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— price trend (History tab → pick a product)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77240" y="2331720"/>
          <a:ext cx="55321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5440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Rs. 38   ·   High Rs. 45   ·   Average Rs. 40.9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903720" y="1737360"/>
            <a:ext cx="47548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78040" y="2048256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0862" y="2221078"/>
            <a:ext cx="294437" cy="29443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01000" y="188366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Updates log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8001000" y="2249424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old price, new price, difference and who changed it.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903720" y="3200400"/>
            <a:ext cx="47548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178040" y="3511296"/>
            <a:ext cx="640080" cy="640080"/>
          </a:xfrm>
          <a:prstGeom prst="ellipse">
            <a:avLst/>
          </a:prstGeom>
          <a:solidFill>
            <a:srgbClr val="25D36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0862" y="3684118"/>
            <a:ext cx="294437" cy="29443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01000" y="334670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Sent log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001000" y="3712464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broadcast with customer, status (sent / pending / failed) and preview.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903720" y="4663440"/>
            <a:ext cx="47548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178040" y="4974336"/>
            <a:ext cx="640080" cy="640080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0862" y="5147158"/>
            <a:ext cx="294437" cy="29443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001000" y="480974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8001000" y="5175504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and PDF export of your full history — for your accounts.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Eptomart Partner Hub  ·  Vendor Guide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16A34A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5-Minute Daily Routine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029968" cy="2286000"/>
          </a:xfrm>
          <a:prstGeom prst="roundRect">
            <a:avLst>
              <a:gd name="adj" fmla="val 4054"/>
            </a:avLst>
          </a:prstGeom>
          <a:solidFill>
            <a:srgbClr val="111B2E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783080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32688" y="24231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Partner Hub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32688" y="30632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home screen — you are already logged in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44368" y="1554480"/>
            <a:ext cx="2029968" cy="2286000"/>
          </a:xfrm>
          <a:prstGeom prst="roundRect">
            <a:avLst>
              <a:gd name="adj" fmla="val 4054"/>
            </a:avLst>
          </a:prstGeom>
          <a:solidFill>
            <a:srgbClr val="111B2E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1783080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317296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145536" y="24231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today's prices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45536" y="30632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mark anything out of stock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57216" y="1554480"/>
            <a:ext cx="2029968" cy="2286000"/>
          </a:xfrm>
          <a:prstGeom prst="roundRect">
            <a:avLst>
              <a:gd name="adj" fmla="val 4054"/>
            </a:avLst>
          </a:prstGeom>
          <a:solidFill>
            <a:srgbClr val="111B2E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85816" y="1783080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5385816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358384" y="24231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the price list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358384" y="30632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are pre-selected for you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70064" y="1554480"/>
            <a:ext cx="2029968" cy="2286000"/>
          </a:xfrm>
          <a:prstGeom prst="roundRect">
            <a:avLst>
              <a:gd name="adj" fmla="val 4054"/>
            </a:avLst>
          </a:prstGeom>
          <a:solidFill>
            <a:srgbClr val="111B2E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98664" y="1783080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759866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571232" y="24231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customers &amp; groups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571232" y="30632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"Select All" or choose who gets it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582912" y="1554480"/>
            <a:ext cx="2029968" cy="2286000"/>
          </a:xfrm>
          <a:prstGeom prst="roundRect">
            <a:avLst>
              <a:gd name="adj" fmla="val 4054"/>
            </a:avLst>
          </a:prstGeom>
          <a:solidFill>
            <a:srgbClr val="111B2E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811512" y="1783080"/>
            <a:ext cx="502920" cy="5029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6" name="Text 24"/>
          <p:cNvSpPr/>
          <p:nvPr/>
        </p:nvSpPr>
        <p:spPr>
          <a:xfrm>
            <a:off x="9811512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784080" y="24231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784080" y="30632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per contact — message or branded PDF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1520" y="4251960"/>
            <a:ext cx="6766560" cy="1828800"/>
          </a:xfrm>
          <a:prstGeom prst="roundRect">
            <a:avLst>
              <a:gd name="adj" fmla="val 4500"/>
            </a:avLst>
          </a:prstGeom>
          <a:solidFill>
            <a:srgbClr val="111B2E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51560" y="4572000"/>
            <a:ext cx="731520" cy="73152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070" y="4769510"/>
            <a:ext cx="336499" cy="336499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2011680" y="452628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help? We are one message away.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the EPTOMART contact in your customer list: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+91 95145 19518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772400" y="4251960"/>
            <a:ext cx="3685032" cy="1828800"/>
          </a:xfrm>
          <a:prstGeom prst="roundRect">
            <a:avLst>
              <a:gd name="adj" fmla="val 4500"/>
            </a:avLst>
          </a:prstGeom>
          <a:solidFill>
            <a:srgbClr val="111B2E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8000"/>
              </a:srgbClr>
            </a:outerShdw>
          </a:effectLst>
        </p:spPr>
      </p:sp>
      <p:pic>
        <p:nvPicPr>
          <p:cNvPr id="34" name="Image 1" descr="/sessions/charming-upbeat-cerf/mnt/vpbms/frontend/public/eptomart-logo-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4407408"/>
            <a:ext cx="914400" cy="86868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9372600" y="44348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Eptomart Partner Hub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C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Eptosi Smart Solutions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C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Eptosi Group Company</a:t>
            </a:r>
            <a:endParaRPr lang="en-US" sz="1350" dirty="0"/>
          </a:p>
        </p:txBody>
      </p:sp>
      <p:sp>
        <p:nvSpPr>
          <p:cNvPr id="36" name="Text 32"/>
          <p:cNvSpPr/>
          <p:nvPr/>
        </p:nvSpPr>
        <p:spPr>
          <a:xfrm>
            <a:off x="731520" y="63550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growing with Eptomart.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2026-07-15T20:45:50Z</dcterms:created>
  <dcterms:modified xsi:type="dcterms:W3CDTF">2026-07-15T20:45:50Z</dcterms:modified>
</cp:coreProperties>
</file>